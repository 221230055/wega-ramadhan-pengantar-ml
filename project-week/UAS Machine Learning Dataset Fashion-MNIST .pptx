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Arimo Bold" charset="1" panose="020B0704020202020204"/>
      <p:regular r:id="rId12"/>
    </p:embeddedFont>
    <p:embeddedFont>
      <p:font typeface="Arimo" charset="1" panose="020B0604020202020204"/>
      <p:regular r:id="rId13"/>
    </p:embeddedFont>
    <p:embeddedFont>
      <p:font typeface="Open Sans Bold" charset="1" panose="020B0806030504020204"/>
      <p:regular r:id="rId14"/>
    </p:embeddedFont>
    <p:embeddedFont>
      <p:font typeface="Open Sans" charset="1" panose="020B060603050402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445383"/>
            <a:ext cx="19457342" cy="4374603"/>
          </a:xfrm>
          <a:custGeom>
            <a:avLst/>
            <a:gdLst/>
            <a:ahLst/>
            <a:cxnLst/>
            <a:rect r="r" b="b" t="t" l="l"/>
            <a:pathLst>
              <a:path h="4374603" w="19457342">
                <a:moveTo>
                  <a:pt x="0" y="0"/>
                </a:moveTo>
                <a:lnTo>
                  <a:pt x="19457342" y="0"/>
                </a:lnTo>
                <a:lnTo>
                  <a:pt x="19457342" y="4374603"/>
                </a:lnTo>
                <a:lnTo>
                  <a:pt x="0" y="4374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471" y="-221867"/>
            <a:ext cx="18441471" cy="10373327"/>
          </a:xfrm>
          <a:custGeom>
            <a:avLst/>
            <a:gdLst/>
            <a:ahLst/>
            <a:cxnLst/>
            <a:rect r="r" b="b" t="t" l="l"/>
            <a:pathLst>
              <a:path h="10373327" w="18441471">
                <a:moveTo>
                  <a:pt x="0" y="0"/>
                </a:moveTo>
                <a:lnTo>
                  <a:pt x="18441471" y="0"/>
                </a:lnTo>
                <a:lnTo>
                  <a:pt x="18441471" y="10373327"/>
                </a:lnTo>
                <a:lnTo>
                  <a:pt x="0" y="10373327"/>
                </a:lnTo>
                <a:lnTo>
                  <a:pt x="0" y="0"/>
                </a:lnTo>
                <a:close/>
              </a:path>
            </a:pathLst>
          </a:custGeom>
          <a:blipFill>
            <a:blip r:embed="rId4">
              <a:alphaModFix amt="8999"/>
              <a:extLst>
                <a:ext uri="{96DAC541-7B7A-43D3-8B79-37D633B846F1}">
                  <asvg:svgBlip xmlns:asvg="http://schemas.microsoft.com/office/drawing/2016/SVG/main" r:embed="rId5"/>
                </a:ext>
              </a:extLst>
            </a:blip>
            <a:stretch>
              <a:fillRect l="0" t="-45114" r="0" b="-45114"/>
            </a:stretch>
          </a:blipFill>
        </p:spPr>
      </p:sp>
      <p:grpSp>
        <p:nvGrpSpPr>
          <p:cNvPr name="Group 4" id="4"/>
          <p:cNvGrpSpPr/>
          <p:nvPr/>
        </p:nvGrpSpPr>
        <p:grpSpPr>
          <a:xfrm rot="0">
            <a:off x="1028700" y="1028700"/>
            <a:ext cx="16230600" cy="8229600"/>
            <a:chOff x="0" y="0"/>
            <a:chExt cx="4274726" cy="2167467"/>
          </a:xfrm>
        </p:grpSpPr>
        <p:sp>
          <p:nvSpPr>
            <p:cNvPr name="Freeform 5" id="5"/>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1B3D65"/>
            </a:solidFill>
          </p:spPr>
        </p:sp>
        <p:sp>
          <p:nvSpPr>
            <p:cNvPr name="TextBox 6" id="6"/>
            <p:cNvSpPr txBox="true"/>
            <p:nvPr/>
          </p:nvSpPr>
          <p:spPr>
            <a:xfrm>
              <a:off x="0" y="-47625"/>
              <a:ext cx="4274726" cy="221509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772859" y="1349173"/>
            <a:ext cx="1955812" cy="195581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3639"/>
                </a:lnSpc>
              </a:pPr>
              <a:r>
                <a:rPr lang="en-US" b="true" sz="2599">
                  <a:solidFill>
                    <a:srgbClr val="1B3D65"/>
                  </a:solidFill>
                  <a:latin typeface="Arimo Bold"/>
                  <a:ea typeface="Arimo Bold"/>
                  <a:cs typeface="Arimo Bold"/>
                  <a:sym typeface="Arimo Bold"/>
                </a:rPr>
                <a:t>Logo Kampus</a:t>
              </a:r>
            </a:p>
          </p:txBody>
        </p:sp>
      </p:grpSp>
      <p:sp>
        <p:nvSpPr>
          <p:cNvPr name="Freeform 10" id="10"/>
          <p:cNvSpPr/>
          <p:nvPr/>
        </p:nvSpPr>
        <p:spPr>
          <a:xfrm flipH="false" flipV="false" rot="5400000">
            <a:off x="797071" y="-294492"/>
            <a:ext cx="651198" cy="1846180"/>
          </a:xfrm>
          <a:custGeom>
            <a:avLst/>
            <a:gdLst/>
            <a:ahLst/>
            <a:cxnLst/>
            <a:rect r="r" b="b" t="t" l="l"/>
            <a:pathLst>
              <a:path h="1846180" w="651198">
                <a:moveTo>
                  <a:pt x="0" y="0"/>
                </a:moveTo>
                <a:lnTo>
                  <a:pt x="651198" y="0"/>
                </a:lnTo>
                <a:lnTo>
                  <a:pt x="651198" y="1846180"/>
                </a:lnTo>
                <a:lnTo>
                  <a:pt x="0" y="18461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332631" y="1090889"/>
            <a:ext cx="2206258" cy="4239803"/>
          </a:xfrm>
          <a:custGeom>
            <a:avLst/>
            <a:gdLst/>
            <a:ahLst/>
            <a:cxnLst/>
            <a:rect r="r" b="b" t="t" l="l"/>
            <a:pathLst>
              <a:path h="4239803" w="2206258">
                <a:moveTo>
                  <a:pt x="0" y="0"/>
                </a:moveTo>
                <a:lnTo>
                  <a:pt x="2206258" y="0"/>
                </a:lnTo>
                <a:lnTo>
                  <a:pt x="2206258" y="4239803"/>
                </a:lnTo>
                <a:lnTo>
                  <a:pt x="0" y="4239803"/>
                </a:lnTo>
                <a:lnTo>
                  <a:pt x="0" y="0"/>
                </a:lnTo>
                <a:close/>
              </a:path>
            </a:pathLst>
          </a:custGeom>
          <a:blipFill>
            <a:blip r:embed="rId8"/>
            <a:stretch>
              <a:fillRect l="0" t="0" r="0" b="0"/>
            </a:stretch>
          </a:blipFill>
        </p:spPr>
      </p:sp>
      <p:sp>
        <p:nvSpPr>
          <p:cNvPr name="Freeform 12" id="12"/>
          <p:cNvSpPr/>
          <p:nvPr/>
        </p:nvSpPr>
        <p:spPr>
          <a:xfrm flipH="false" flipV="false" rot="5400000">
            <a:off x="16805143" y="511879"/>
            <a:ext cx="2175528" cy="708035"/>
          </a:xfrm>
          <a:custGeom>
            <a:avLst/>
            <a:gdLst/>
            <a:ahLst/>
            <a:cxnLst/>
            <a:rect r="r" b="b" t="t" l="l"/>
            <a:pathLst>
              <a:path h="708035" w="2175528">
                <a:moveTo>
                  <a:pt x="0" y="0"/>
                </a:moveTo>
                <a:lnTo>
                  <a:pt x="2175528" y="0"/>
                </a:lnTo>
                <a:lnTo>
                  <a:pt x="2175528" y="708036"/>
                </a:lnTo>
                <a:lnTo>
                  <a:pt x="0" y="7080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2444496" y="4288846"/>
            <a:ext cx="12612539" cy="2165985"/>
          </a:xfrm>
          <a:prstGeom prst="rect">
            <a:avLst/>
          </a:prstGeom>
        </p:spPr>
        <p:txBody>
          <a:bodyPr anchor="t" rtlCol="false" tIns="0" lIns="0" bIns="0" rIns="0">
            <a:spAutoFit/>
          </a:bodyPr>
          <a:lstStyle/>
          <a:p>
            <a:pPr algn="ctr">
              <a:lnSpc>
                <a:spcPts val="5520"/>
              </a:lnSpc>
            </a:pPr>
            <a:r>
              <a:rPr lang="en-US" b="true" sz="6000">
                <a:solidFill>
                  <a:srgbClr val="FFFFFF"/>
                </a:solidFill>
                <a:latin typeface="Arimo Bold"/>
                <a:ea typeface="Arimo Bold"/>
                <a:cs typeface="Arimo Bold"/>
                <a:sym typeface="Arimo Bold"/>
              </a:rPr>
              <a:t>Perbandingan Random Forest, MLP, dan CNN pada Dataset Fashion-MNIST</a:t>
            </a:r>
          </a:p>
        </p:txBody>
      </p:sp>
      <p:sp>
        <p:nvSpPr>
          <p:cNvPr name="Freeform 14" id="14"/>
          <p:cNvSpPr/>
          <p:nvPr/>
        </p:nvSpPr>
        <p:spPr>
          <a:xfrm flipH="true" flipV="false" rot="0">
            <a:off x="475625" y="5911657"/>
            <a:ext cx="2206258" cy="4239803"/>
          </a:xfrm>
          <a:custGeom>
            <a:avLst/>
            <a:gdLst/>
            <a:ahLst/>
            <a:cxnLst/>
            <a:rect r="r" b="b" t="t" l="l"/>
            <a:pathLst>
              <a:path h="4239803" w="2206258">
                <a:moveTo>
                  <a:pt x="2206258" y="0"/>
                </a:moveTo>
                <a:lnTo>
                  <a:pt x="0" y="0"/>
                </a:lnTo>
                <a:lnTo>
                  <a:pt x="0" y="4239803"/>
                </a:lnTo>
                <a:lnTo>
                  <a:pt x="2206258" y="4239803"/>
                </a:lnTo>
                <a:lnTo>
                  <a:pt x="2206258" y="0"/>
                </a:lnTo>
                <a:close/>
              </a:path>
            </a:pathLst>
          </a:custGeom>
          <a:blipFill>
            <a:blip r:embed="rId8"/>
            <a:stretch>
              <a:fillRect l="0" t="0" r="0" b="0"/>
            </a:stretch>
          </a:blipFill>
        </p:spPr>
      </p:sp>
      <p:sp>
        <p:nvSpPr>
          <p:cNvPr name="Freeform 15" id="15"/>
          <p:cNvSpPr/>
          <p:nvPr/>
        </p:nvSpPr>
        <p:spPr>
          <a:xfrm flipH="true" flipV="true" rot="5400000">
            <a:off x="16644218" y="8709595"/>
            <a:ext cx="651198" cy="1846180"/>
          </a:xfrm>
          <a:custGeom>
            <a:avLst/>
            <a:gdLst/>
            <a:ahLst/>
            <a:cxnLst/>
            <a:rect r="r" b="b" t="t" l="l"/>
            <a:pathLst>
              <a:path h="1846180" w="651198">
                <a:moveTo>
                  <a:pt x="651198" y="1846179"/>
                </a:moveTo>
                <a:lnTo>
                  <a:pt x="0" y="1846179"/>
                </a:lnTo>
                <a:lnTo>
                  <a:pt x="0" y="0"/>
                </a:lnTo>
                <a:lnTo>
                  <a:pt x="651198" y="0"/>
                </a:lnTo>
                <a:lnTo>
                  <a:pt x="651198" y="184617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5400000">
            <a:off x="-612139" y="9604266"/>
            <a:ext cx="2175528" cy="708035"/>
          </a:xfrm>
          <a:custGeom>
            <a:avLst/>
            <a:gdLst/>
            <a:ahLst/>
            <a:cxnLst/>
            <a:rect r="r" b="b" t="t" l="l"/>
            <a:pathLst>
              <a:path h="708035" w="2175528">
                <a:moveTo>
                  <a:pt x="0" y="0"/>
                </a:moveTo>
                <a:lnTo>
                  <a:pt x="2175528" y="0"/>
                </a:lnTo>
                <a:lnTo>
                  <a:pt x="2175528" y="708035"/>
                </a:lnTo>
                <a:lnTo>
                  <a:pt x="0" y="70803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7675065" y="1192604"/>
            <a:ext cx="2102993" cy="2112381"/>
          </a:xfrm>
          <a:custGeom>
            <a:avLst/>
            <a:gdLst/>
            <a:ahLst/>
            <a:cxnLst/>
            <a:rect r="r" b="b" t="t" l="l"/>
            <a:pathLst>
              <a:path h="2112381" w="2102993">
                <a:moveTo>
                  <a:pt x="0" y="0"/>
                </a:moveTo>
                <a:lnTo>
                  <a:pt x="2102992" y="0"/>
                </a:lnTo>
                <a:lnTo>
                  <a:pt x="2102992" y="2112382"/>
                </a:lnTo>
                <a:lnTo>
                  <a:pt x="0" y="2112382"/>
                </a:lnTo>
                <a:lnTo>
                  <a:pt x="0" y="0"/>
                </a:lnTo>
                <a:close/>
              </a:path>
            </a:pathLst>
          </a:custGeom>
          <a:blipFill>
            <a:blip r:embed="rId11"/>
            <a:stretch>
              <a:fillRect l="0" t="0" r="0" b="0"/>
            </a:stretch>
          </a:blipFill>
        </p:spPr>
      </p:sp>
      <p:sp>
        <p:nvSpPr>
          <p:cNvPr name="TextBox 18" id="18"/>
          <p:cNvSpPr txBox="true"/>
          <p:nvPr/>
        </p:nvSpPr>
        <p:spPr>
          <a:xfrm rot="0">
            <a:off x="4834884" y="6492907"/>
            <a:ext cx="7783354" cy="800100"/>
          </a:xfrm>
          <a:prstGeom prst="rect">
            <a:avLst/>
          </a:prstGeom>
        </p:spPr>
        <p:txBody>
          <a:bodyPr anchor="t" rtlCol="false" tIns="0" lIns="0" bIns="0" rIns="0">
            <a:spAutoFit/>
          </a:bodyPr>
          <a:lstStyle/>
          <a:p>
            <a:pPr algn="ctr">
              <a:lnSpc>
                <a:spcPts val="6300"/>
              </a:lnSpc>
              <a:spcBef>
                <a:spcPct val="0"/>
              </a:spcBef>
            </a:pPr>
            <a:r>
              <a:rPr lang="en-US" sz="4500">
                <a:solidFill>
                  <a:srgbClr val="FFFFFF"/>
                </a:solidFill>
                <a:latin typeface="Arimo"/>
                <a:ea typeface="Arimo"/>
                <a:cs typeface="Arimo"/>
                <a:sym typeface="Arimo"/>
              </a:rPr>
              <a:t>Mata kuliah: Machine Learning</a:t>
            </a:r>
          </a:p>
        </p:txBody>
      </p:sp>
      <p:sp>
        <p:nvSpPr>
          <p:cNvPr name="TextBox 19" id="19"/>
          <p:cNvSpPr txBox="true"/>
          <p:nvPr/>
        </p:nvSpPr>
        <p:spPr>
          <a:xfrm rot="0">
            <a:off x="5606503" y="7231459"/>
            <a:ext cx="6288524" cy="800100"/>
          </a:xfrm>
          <a:prstGeom prst="rect">
            <a:avLst/>
          </a:prstGeom>
        </p:spPr>
        <p:txBody>
          <a:bodyPr anchor="t" rtlCol="false" tIns="0" lIns="0" bIns="0" rIns="0">
            <a:spAutoFit/>
          </a:bodyPr>
          <a:lstStyle/>
          <a:p>
            <a:pPr algn="ctr">
              <a:lnSpc>
                <a:spcPts val="6300"/>
              </a:lnSpc>
              <a:spcBef>
                <a:spcPct val="0"/>
              </a:spcBef>
            </a:pPr>
            <a:r>
              <a:rPr lang="en-US" sz="4500">
                <a:solidFill>
                  <a:srgbClr val="FFFFFF"/>
                </a:solidFill>
                <a:latin typeface="Arimo"/>
                <a:ea typeface="Arimo"/>
                <a:cs typeface="Arimo"/>
                <a:sym typeface="Arimo"/>
              </a:rPr>
              <a:t>Dataset: Fashion-MNIST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471" y="-221867"/>
            <a:ext cx="18441471" cy="10373327"/>
          </a:xfrm>
          <a:custGeom>
            <a:avLst/>
            <a:gdLst/>
            <a:ahLst/>
            <a:cxnLst/>
            <a:rect r="r" b="b" t="t" l="l"/>
            <a:pathLst>
              <a:path h="10373327" w="18441471">
                <a:moveTo>
                  <a:pt x="0" y="0"/>
                </a:moveTo>
                <a:lnTo>
                  <a:pt x="18441471" y="0"/>
                </a:lnTo>
                <a:lnTo>
                  <a:pt x="18441471" y="10373327"/>
                </a:lnTo>
                <a:lnTo>
                  <a:pt x="0" y="10373327"/>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45114" r="0" b="-45114"/>
            </a:stretch>
          </a:blipFill>
        </p:spPr>
      </p:sp>
      <p:sp>
        <p:nvSpPr>
          <p:cNvPr name="Freeform 3" id="3"/>
          <p:cNvSpPr/>
          <p:nvPr/>
        </p:nvSpPr>
        <p:spPr>
          <a:xfrm flipH="false" flipV="false" rot="0">
            <a:off x="-1002934" y="4114800"/>
            <a:ext cx="4702629" cy="4114800"/>
          </a:xfrm>
          <a:custGeom>
            <a:avLst/>
            <a:gdLst/>
            <a:ahLst/>
            <a:cxnLst/>
            <a:rect r="r" b="b" t="t" l="l"/>
            <a:pathLst>
              <a:path h="4114800" w="4702629">
                <a:moveTo>
                  <a:pt x="0" y="0"/>
                </a:moveTo>
                <a:lnTo>
                  <a:pt x="4702629" y="0"/>
                </a:lnTo>
                <a:lnTo>
                  <a:pt x="4702629" y="4114800"/>
                </a:lnTo>
                <a:lnTo>
                  <a:pt x="0" y="4114800"/>
                </a:lnTo>
                <a:lnTo>
                  <a:pt x="0" y="0"/>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103560" y="3903535"/>
            <a:ext cx="2479929" cy="247992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659"/>
                </a:lnSpc>
              </a:pPr>
              <a:r>
                <a:rPr lang="en-US" sz="1899">
                  <a:solidFill>
                    <a:srgbClr val="FFFFFF"/>
                  </a:solidFill>
                  <a:latin typeface="Arimo"/>
                  <a:ea typeface="Arimo"/>
                  <a:cs typeface="Arimo"/>
                  <a:sym typeface="Arimo"/>
                </a:rPr>
                <a:t>1</a:t>
              </a:r>
            </a:p>
          </p:txBody>
        </p:sp>
      </p:grpSp>
      <p:sp>
        <p:nvSpPr>
          <p:cNvPr name="Freeform 7" id="7"/>
          <p:cNvSpPr/>
          <p:nvPr/>
        </p:nvSpPr>
        <p:spPr>
          <a:xfrm flipH="false" flipV="false" rot="0">
            <a:off x="-623576" y="8229600"/>
            <a:ext cx="4702629" cy="4114800"/>
          </a:xfrm>
          <a:custGeom>
            <a:avLst/>
            <a:gdLst/>
            <a:ahLst/>
            <a:cxnLst/>
            <a:rect r="r" b="b" t="t" l="l"/>
            <a:pathLst>
              <a:path h="4114800" w="4702629">
                <a:moveTo>
                  <a:pt x="0" y="0"/>
                </a:moveTo>
                <a:lnTo>
                  <a:pt x="4702628" y="0"/>
                </a:lnTo>
                <a:lnTo>
                  <a:pt x="4702628" y="4114800"/>
                </a:lnTo>
                <a:lnTo>
                  <a:pt x="0" y="4114800"/>
                </a:lnTo>
                <a:lnTo>
                  <a:pt x="0" y="0"/>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14213" y="1003934"/>
            <a:ext cx="7729678" cy="5412270"/>
          </a:xfrm>
          <a:custGeom>
            <a:avLst/>
            <a:gdLst/>
            <a:ahLst/>
            <a:cxnLst/>
            <a:rect r="r" b="b" t="t" l="l"/>
            <a:pathLst>
              <a:path h="5412270" w="7729678">
                <a:moveTo>
                  <a:pt x="0" y="0"/>
                </a:moveTo>
                <a:lnTo>
                  <a:pt x="7729678" y="0"/>
                </a:lnTo>
                <a:lnTo>
                  <a:pt x="7729678" y="5412270"/>
                </a:lnTo>
                <a:lnTo>
                  <a:pt x="0" y="5412270"/>
                </a:lnTo>
                <a:lnTo>
                  <a:pt x="0" y="0"/>
                </a:lnTo>
                <a:close/>
              </a:path>
            </a:pathLst>
          </a:custGeom>
          <a:blipFill>
            <a:blip r:embed="rId6"/>
            <a:stretch>
              <a:fillRect l="0" t="0" r="0" b="0"/>
            </a:stretch>
          </a:blipFill>
        </p:spPr>
      </p:sp>
      <p:sp>
        <p:nvSpPr>
          <p:cNvPr name="Freeform 9" id="9"/>
          <p:cNvSpPr/>
          <p:nvPr/>
        </p:nvSpPr>
        <p:spPr>
          <a:xfrm flipH="false" flipV="false" rot="0">
            <a:off x="9328276" y="1553822"/>
            <a:ext cx="7931024" cy="4312494"/>
          </a:xfrm>
          <a:custGeom>
            <a:avLst/>
            <a:gdLst/>
            <a:ahLst/>
            <a:cxnLst/>
            <a:rect r="r" b="b" t="t" l="l"/>
            <a:pathLst>
              <a:path h="4312494" w="7931024">
                <a:moveTo>
                  <a:pt x="0" y="0"/>
                </a:moveTo>
                <a:lnTo>
                  <a:pt x="7931024" y="0"/>
                </a:lnTo>
                <a:lnTo>
                  <a:pt x="7931024" y="4312495"/>
                </a:lnTo>
                <a:lnTo>
                  <a:pt x="0" y="4312495"/>
                </a:lnTo>
                <a:lnTo>
                  <a:pt x="0" y="0"/>
                </a:lnTo>
                <a:close/>
              </a:path>
            </a:pathLst>
          </a:custGeom>
          <a:blipFill>
            <a:blip r:embed="rId7"/>
            <a:stretch>
              <a:fillRect l="0" t="0" r="0" b="0"/>
            </a:stretch>
          </a:blipFill>
        </p:spPr>
      </p:sp>
      <p:sp>
        <p:nvSpPr>
          <p:cNvPr name="TextBox 10" id="10"/>
          <p:cNvSpPr txBox="true"/>
          <p:nvPr/>
        </p:nvSpPr>
        <p:spPr>
          <a:xfrm rot="0">
            <a:off x="764557" y="-161925"/>
            <a:ext cx="17523443" cy="1165859"/>
          </a:xfrm>
          <a:prstGeom prst="rect">
            <a:avLst/>
          </a:prstGeom>
        </p:spPr>
        <p:txBody>
          <a:bodyPr anchor="t" rtlCol="false" tIns="0" lIns="0" bIns="0" rIns="0">
            <a:spAutoFit/>
          </a:bodyPr>
          <a:lstStyle/>
          <a:p>
            <a:pPr algn="ctr">
              <a:lnSpc>
                <a:spcPts val="9240"/>
              </a:lnSpc>
              <a:spcBef>
                <a:spcPct val="0"/>
              </a:spcBef>
            </a:pPr>
            <a:r>
              <a:rPr lang="en-US" b="true" sz="6600">
                <a:solidFill>
                  <a:srgbClr val="1B3D65"/>
                </a:solidFill>
                <a:latin typeface="Arimo Bold"/>
                <a:ea typeface="Arimo Bold"/>
                <a:cs typeface="Arimo Bold"/>
                <a:sym typeface="Arimo Bold"/>
              </a:rPr>
              <a:t>Dataset &amp; Exploratory Data Analysis (EDA)</a:t>
            </a:r>
          </a:p>
        </p:txBody>
      </p:sp>
      <p:sp>
        <p:nvSpPr>
          <p:cNvPr name="TextBox 11" id="11"/>
          <p:cNvSpPr txBox="true"/>
          <p:nvPr/>
        </p:nvSpPr>
        <p:spPr>
          <a:xfrm rot="0">
            <a:off x="114404" y="6717381"/>
            <a:ext cx="8122123" cy="3329940"/>
          </a:xfrm>
          <a:prstGeom prst="rect">
            <a:avLst/>
          </a:prstGeom>
        </p:spPr>
        <p:txBody>
          <a:bodyPr anchor="t" rtlCol="false" tIns="0" lIns="0" bIns="0" rIns="0">
            <a:spAutoFit/>
          </a:bodyPr>
          <a:lstStyle/>
          <a:p>
            <a:pPr algn="just">
              <a:lnSpc>
                <a:spcPts val="3360"/>
              </a:lnSpc>
            </a:pPr>
            <a:r>
              <a:rPr lang="en-US" sz="2400" b="true">
                <a:solidFill>
                  <a:srgbClr val="1B3D65"/>
                </a:solidFill>
                <a:latin typeface="Open Sans Bold"/>
                <a:ea typeface="Open Sans Bold"/>
                <a:cs typeface="Open Sans Bold"/>
                <a:sym typeface="Open Sans Bold"/>
              </a:rPr>
              <a:t>Grafik distribusi kelas Fashion-MNIST menunjukk</a:t>
            </a:r>
            <a:r>
              <a:rPr lang="en-US" b="true" sz="2400">
                <a:solidFill>
                  <a:srgbClr val="1B3D65"/>
                </a:solidFill>
                <a:latin typeface="Open Sans Bold"/>
                <a:ea typeface="Open Sans Bold"/>
                <a:cs typeface="Open Sans Bold"/>
                <a:sym typeface="Open Sans Bold"/>
              </a:rPr>
              <a:t>an bahwa setiap label kelas memiliki jumlah data yang hampir sama. Hal ini menandakan bahwa dataset bersifat seimbang (balanced), sehingga tidak ada kelas yang mendominasi atau kekurangan data. Kondisi ini baik untuk proses pelatihan model karena dapat mengurangi bias dan membantu model belajar secara adil pada seluruh kelas.</a:t>
            </a:r>
          </a:p>
        </p:txBody>
      </p:sp>
      <p:sp>
        <p:nvSpPr>
          <p:cNvPr name="TextBox 12" id="12"/>
          <p:cNvSpPr txBox="true"/>
          <p:nvPr/>
        </p:nvSpPr>
        <p:spPr>
          <a:xfrm rot="0">
            <a:off x="9953961" y="6592429"/>
            <a:ext cx="7557748" cy="3498850"/>
          </a:xfrm>
          <a:prstGeom prst="rect">
            <a:avLst/>
          </a:prstGeom>
        </p:spPr>
        <p:txBody>
          <a:bodyPr anchor="t" rtlCol="false" tIns="0" lIns="0" bIns="0" rIns="0">
            <a:spAutoFit/>
          </a:bodyPr>
          <a:lstStyle/>
          <a:p>
            <a:pPr algn="just">
              <a:lnSpc>
                <a:spcPts val="3500"/>
              </a:lnSpc>
            </a:pPr>
            <a:r>
              <a:rPr lang="en-US" sz="2500" b="true">
                <a:solidFill>
                  <a:srgbClr val="1B3D65"/>
                </a:solidFill>
                <a:latin typeface="Open Sans Bold"/>
                <a:ea typeface="Open Sans Bold"/>
                <a:cs typeface="Open Sans Bold"/>
                <a:sym typeface="Open Sans Bold"/>
              </a:rPr>
              <a:t>Gambar diatas merupakan</a:t>
            </a:r>
            <a:r>
              <a:rPr lang="en-US" b="true" sz="2500">
                <a:solidFill>
                  <a:srgbClr val="1B3D65"/>
                </a:solidFill>
                <a:latin typeface="Open Sans Bold"/>
                <a:ea typeface="Open Sans Bold"/>
                <a:cs typeface="Open Sans Bold"/>
                <a:sym typeface="Open Sans Bold"/>
              </a:rPr>
              <a:t> contoh citra dari setiap kelas pada dataset Fashion-MNIST. Setiap label mewakili kategori produk fashion yang berbeda. Visualisasi ini digunakan untuk memberikan gambaran awal mengenai bentuk dan karakteristik data, sehingga memudahkan pemahaman terhadap variasi objek yang akan diklasifikasikan oleh model.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2934" y="4114800"/>
            <a:ext cx="4702629" cy="4114800"/>
          </a:xfrm>
          <a:custGeom>
            <a:avLst/>
            <a:gdLst/>
            <a:ahLst/>
            <a:cxnLst/>
            <a:rect r="r" b="b" t="t" l="l"/>
            <a:pathLst>
              <a:path h="4114800" w="4702629">
                <a:moveTo>
                  <a:pt x="0" y="0"/>
                </a:moveTo>
                <a:lnTo>
                  <a:pt x="4702629" y="0"/>
                </a:lnTo>
                <a:lnTo>
                  <a:pt x="4702629" y="4114800"/>
                </a:lnTo>
                <a:lnTo>
                  <a:pt x="0" y="4114800"/>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23576" y="8229600"/>
            <a:ext cx="4702629" cy="4114800"/>
          </a:xfrm>
          <a:custGeom>
            <a:avLst/>
            <a:gdLst/>
            <a:ahLst/>
            <a:cxnLst/>
            <a:rect r="r" b="b" t="t" l="l"/>
            <a:pathLst>
              <a:path h="4114800" w="4702629">
                <a:moveTo>
                  <a:pt x="0" y="0"/>
                </a:moveTo>
                <a:lnTo>
                  <a:pt x="4702628" y="0"/>
                </a:lnTo>
                <a:lnTo>
                  <a:pt x="4702628" y="4114800"/>
                </a:lnTo>
                <a:lnTo>
                  <a:pt x="0" y="4114800"/>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32829" y="791845"/>
            <a:ext cx="6812139" cy="5139174"/>
          </a:xfrm>
          <a:custGeom>
            <a:avLst/>
            <a:gdLst/>
            <a:ahLst/>
            <a:cxnLst/>
            <a:rect r="r" b="b" t="t" l="l"/>
            <a:pathLst>
              <a:path h="5139174" w="6812139">
                <a:moveTo>
                  <a:pt x="0" y="0"/>
                </a:moveTo>
                <a:lnTo>
                  <a:pt x="6812139" y="0"/>
                </a:lnTo>
                <a:lnTo>
                  <a:pt x="6812139" y="5139174"/>
                </a:lnTo>
                <a:lnTo>
                  <a:pt x="0" y="5139174"/>
                </a:lnTo>
                <a:lnTo>
                  <a:pt x="0" y="0"/>
                </a:lnTo>
                <a:close/>
              </a:path>
            </a:pathLst>
          </a:custGeom>
          <a:blipFill>
            <a:blip r:embed="rId4"/>
            <a:stretch>
              <a:fillRect l="0" t="0" r="0" b="0"/>
            </a:stretch>
          </a:blipFill>
        </p:spPr>
      </p:sp>
      <p:sp>
        <p:nvSpPr>
          <p:cNvPr name="Freeform 5" id="5"/>
          <p:cNvSpPr/>
          <p:nvPr/>
        </p:nvSpPr>
        <p:spPr>
          <a:xfrm flipH="false" flipV="false" rot="0">
            <a:off x="11153008" y="791845"/>
            <a:ext cx="6430071" cy="4789435"/>
          </a:xfrm>
          <a:custGeom>
            <a:avLst/>
            <a:gdLst/>
            <a:ahLst/>
            <a:cxnLst/>
            <a:rect r="r" b="b" t="t" l="l"/>
            <a:pathLst>
              <a:path h="4789435" w="6430071">
                <a:moveTo>
                  <a:pt x="0" y="0"/>
                </a:moveTo>
                <a:lnTo>
                  <a:pt x="6430072" y="0"/>
                </a:lnTo>
                <a:lnTo>
                  <a:pt x="6430072" y="4789435"/>
                </a:lnTo>
                <a:lnTo>
                  <a:pt x="0" y="4789435"/>
                </a:lnTo>
                <a:lnTo>
                  <a:pt x="0" y="0"/>
                </a:lnTo>
                <a:close/>
              </a:path>
            </a:pathLst>
          </a:custGeom>
          <a:blipFill>
            <a:blip r:embed="rId5"/>
            <a:stretch>
              <a:fillRect l="0" t="0" r="0" b="0"/>
            </a:stretch>
          </a:blipFill>
        </p:spPr>
      </p:sp>
      <p:sp>
        <p:nvSpPr>
          <p:cNvPr name="TextBox 6" id="6"/>
          <p:cNvSpPr txBox="true"/>
          <p:nvPr/>
        </p:nvSpPr>
        <p:spPr>
          <a:xfrm rot="0">
            <a:off x="6559927" y="-95250"/>
            <a:ext cx="5168146"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ns Bold"/>
                <a:ea typeface="Open Sans Bold"/>
                <a:cs typeface="Open Sans Bold"/>
                <a:sym typeface="Open Sans Bold"/>
              </a:rPr>
              <a:t>Le</a:t>
            </a:r>
            <a:r>
              <a:rPr lang="en-US" b="true" sz="5199">
                <a:solidFill>
                  <a:srgbClr val="000000"/>
                </a:solidFill>
                <a:latin typeface="Open Sans Bold"/>
                <a:ea typeface="Open Sans Bold"/>
                <a:cs typeface="Open Sans Bold"/>
                <a:sym typeface="Open Sans Bold"/>
              </a:rPr>
              <a:t>arning Curve </a:t>
            </a:r>
          </a:p>
        </p:txBody>
      </p:sp>
      <p:sp>
        <p:nvSpPr>
          <p:cNvPr name="TextBox 7" id="7"/>
          <p:cNvSpPr txBox="true"/>
          <p:nvPr/>
        </p:nvSpPr>
        <p:spPr>
          <a:xfrm rot="0">
            <a:off x="284413" y="6294624"/>
            <a:ext cx="7908972" cy="3181316"/>
          </a:xfrm>
          <a:prstGeom prst="rect">
            <a:avLst/>
          </a:prstGeom>
        </p:spPr>
        <p:txBody>
          <a:bodyPr anchor="t" rtlCol="false" tIns="0" lIns="0" bIns="0" rIns="0">
            <a:spAutoFit/>
          </a:bodyPr>
          <a:lstStyle/>
          <a:p>
            <a:pPr algn="just">
              <a:lnSpc>
                <a:spcPts val="4201"/>
              </a:lnSpc>
            </a:pPr>
            <a:r>
              <a:rPr lang="en-US" sz="3001">
                <a:solidFill>
                  <a:srgbClr val="000000"/>
                </a:solidFill>
                <a:latin typeface="Open Sans"/>
                <a:ea typeface="Open Sans"/>
                <a:cs typeface="Open Sans"/>
                <a:sym typeface="Open Sans"/>
              </a:rPr>
              <a:t>Grafik menunjukkan akurasi training d</a:t>
            </a:r>
            <a:r>
              <a:rPr lang="en-US" sz="3001">
                <a:solidFill>
                  <a:srgbClr val="000000"/>
                </a:solidFill>
                <a:latin typeface="Open Sans"/>
                <a:ea typeface="Open Sans"/>
                <a:cs typeface="Open Sans"/>
                <a:sym typeface="Open Sans"/>
              </a:rPr>
              <a:t>an validation meningkat seiring bertambahnya epoch. Perbedaan keduanya kecil, menandakan model MLP mampu belajar dengan baik dan tidak mengalami overfitting yang signifikan.</a:t>
            </a:r>
          </a:p>
        </p:txBody>
      </p:sp>
      <p:sp>
        <p:nvSpPr>
          <p:cNvPr name="TextBox 8" id="8"/>
          <p:cNvSpPr txBox="true"/>
          <p:nvPr/>
        </p:nvSpPr>
        <p:spPr>
          <a:xfrm rot="0">
            <a:off x="10721399" y="6115050"/>
            <a:ext cx="7293290" cy="3648676"/>
          </a:xfrm>
          <a:prstGeom prst="rect">
            <a:avLst/>
          </a:prstGeom>
        </p:spPr>
        <p:txBody>
          <a:bodyPr anchor="t" rtlCol="false" tIns="0" lIns="0" bIns="0" rIns="0">
            <a:spAutoFit/>
          </a:bodyPr>
          <a:lstStyle/>
          <a:p>
            <a:pPr algn="just">
              <a:lnSpc>
                <a:spcPts val="3641"/>
              </a:lnSpc>
            </a:pPr>
            <a:r>
              <a:rPr lang="en-US" sz="2601">
                <a:solidFill>
                  <a:srgbClr val="000000"/>
                </a:solidFill>
                <a:latin typeface="Open Sans"/>
                <a:ea typeface="Open Sans"/>
                <a:cs typeface="Open Sans"/>
                <a:sym typeface="Open Sans"/>
              </a:rPr>
              <a:t>Grafik learning curve CNN menunjukkan bahw</a:t>
            </a:r>
            <a:r>
              <a:rPr lang="en-US" sz="2601">
                <a:solidFill>
                  <a:srgbClr val="000000"/>
                </a:solidFill>
                <a:latin typeface="Open Sans"/>
                <a:ea typeface="Open Sans"/>
                <a:cs typeface="Open Sans"/>
                <a:sym typeface="Open Sans"/>
              </a:rPr>
              <a:t>a akurasi training dan validation meningkat dengan cepat pada awal epoch dan kemudian cenderung stabil. Perbedaan kedua kurva relatif kecil, sehingga dapat disimpulkan bahwa model CNN mampu belajar dengan baik dan memiliki kemampuan generalisasi yang cukup baik tanpa indikasi overfitting yang kuat.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92060" y="7546593"/>
            <a:ext cx="15226645" cy="3423414"/>
          </a:xfrm>
          <a:custGeom>
            <a:avLst/>
            <a:gdLst/>
            <a:ahLst/>
            <a:cxnLst/>
            <a:rect r="r" b="b" t="t" l="l"/>
            <a:pathLst>
              <a:path h="3423414" w="15226645">
                <a:moveTo>
                  <a:pt x="0" y="0"/>
                </a:moveTo>
                <a:lnTo>
                  <a:pt x="15226645" y="0"/>
                </a:lnTo>
                <a:lnTo>
                  <a:pt x="15226645" y="3423414"/>
                </a:lnTo>
                <a:lnTo>
                  <a:pt x="0" y="34234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46763" y="0"/>
            <a:ext cx="3990288" cy="10287000"/>
            <a:chOff x="0" y="0"/>
            <a:chExt cx="1050940" cy="2709333"/>
          </a:xfrm>
        </p:grpSpPr>
        <p:sp>
          <p:nvSpPr>
            <p:cNvPr name="Freeform 4" id="4"/>
            <p:cNvSpPr/>
            <p:nvPr/>
          </p:nvSpPr>
          <p:spPr>
            <a:xfrm flipH="false" flipV="false" rot="0">
              <a:off x="0" y="0"/>
              <a:ext cx="1050940" cy="2709333"/>
            </a:xfrm>
            <a:custGeom>
              <a:avLst/>
              <a:gdLst/>
              <a:ahLst/>
              <a:cxnLst/>
              <a:rect r="r" b="b" t="t" l="l"/>
              <a:pathLst>
                <a:path h="2709333" w="1050940">
                  <a:moveTo>
                    <a:pt x="0" y="0"/>
                  </a:moveTo>
                  <a:lnTo>
                    <a:pt x="1050940" y="0"/>
                  </a:lnTo>
                  <a:lnTo>
                    <a:pt x="1050940" y="2709333"/>
                  </a:lnTo>
                  <a:lnTo>
                    <a:pt x="0" y="2709333"/>
                  </a:lnTo>
                  <a:close/>
                </a:path>
              </a:pathLst>
            </a:custGeom>
            <a:solidFill>
              <a:srgbClr val="1B3D65"/>
            </a:solidFill>
          </p:spPr>
        </p:sp>
        <p:sp>
          <p:nvSpPr>
            <p:cNvPr name="TextBox 5" id="5"/>
            <p:cNvSpPr txBox="true"/>
            <p:nvPr/>
          </p:nvSpPr>
          <p:spPr>
            <a:xfrm>
              <a:off x="0" y="-47625"/>
              <a:ext cx="1050940" cy="275695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47754" y="0"/>
            <a:ext cx="4702629" cy="4114800"/>
          </a:xfrm>
          <a:custGeom>
            <a:avLst/>
            <a:gdLst/>
            <a:ahLst/>
            <a:cxnLst/>
            <a:rect r="r" b="b" t="t" l="l"/>
            <a:pathLst>
              <a:path h="4114800" w="4702629">
                <a:moveTo>
                  <a:pt x="0" y="0"/>
                </a:moveTo>
                <a:lnTo>
                  <a:pt x="4702628" y="0"/>
                </a:lnTo>
                <a:lnTo>
                  <a:pt x="4702628" y="4114800"/>
                </a:lnTo>
                <a:lnTo>
                  <a:pt x="0" y="4114800"/>
                </a:lnTo>
                <a:lnTo>
                  <a:pt x="0" y="0"/>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23576" y="8229600"/>
            <a:ext cx="4702629" cy="4114800"/>
          </a:xfrm>
          <a:custGeom>
            <a:avLst/>
            <a:gdLst/>
            <a:ahLst/>
            <a:cxnLst/>
            <a:rect r="r" b="b" t="t" l="l"/>
            <a:pathLst>
              <a:path h="4114800" w="4702629">
                <a:moveTo>
                  <a:pt x="0" y="0"/>
                </a:moveTo>
                <a:lnTo>
                  <a:pt x="4702628" y="0"/>
                </a:lnTo>
                <a:lnTo>
                  <a:pt x="4702628" y="4114800"/>
                </a:lnTo>
                <a:lnTo>
                  <a:pt x="0" y="4114800"/>
                </a:lnTo>
                <a:lnTo>
                  <a:pt x="0" y="0"/>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655640" y="1620521"/>
            <a:ext cx="7509677" cy="7045958"/>
          </a:xfrm>
          <a:custGeom>
            <a:avLst/>
            <a:gdLst/>
            <a:ahLst/>
            <a:cxnLst/>
            <a:rect r="r" b="b" t="t" l="l"/>
            <a:pathLst>
              <a:path h="7045958" w="7509677">
                <a:moveTo>
                  <a:pt x="0" y="0"/>
                </a:moveTo>
                <a:lnTo>
                  <a:pt x="7509677" y="0"/>
                </a:lnTo>
                <a:lnTo>
                  <a:pt x="7509677" y="7045958"/>
                </a:lnTo>
                <a:lnTo>
                  <a:pt x="0" y="7045958"/>
                </a:lnTo>
                <a:lnTo>
                  <a:pt x="0" y="0"/>
                </a:lnTo>
                <a:close/>
              </a:path>
            </a:pathLst>
          </a:custGeom>
          <a:blipFill>
            <a:blip r:embed="rId6"/>
            <a:stretch>
              <a:fillRect l="0" t="0" r="0" b="0"/>
            </a:stretch>
          </a:blipFill>
        </p:spPr>
      </p:sp>
      <p:sp>
        <p:nvSpPr>
          <p:cNvPr name="TextBox 9" id="9"/>
          <p:cNvSpPr txBox="true"/>
          <p:nvPr/>
        </p:nvSpPr>
        <p:spPr>
          <a:xfrm rot="0">
            <a:off x="3967755" y="-219075"/>
            <a:ext cx="13475255" cy="1736726"/>
          </a:xfrm>
          <a:prstGeom prst="rect">
            <a:avLst/>
          </a:prstGeom>
        </p:spPr>
        <p:txBody>
          <a:bodyPr anchor="t" rtlCol="false" tIns="0" lIns="0" bIns="0" rIns="0">
            <a:spAutoFit/>
          </a:bodyPr>
          <a:lstStyle/>
          <a:p>
            <a:pPr algn="ctr">
              <a:lnSpc>
                <a:spcPts val="13999"/>
              </a:lnSpc>
              <a:spcBef>
                <a:spcPct val="0"/>
              </a:spcBef>
            </a:pPr>
            <a:r>
              <a:rPr lang="en-US" b="true" sz="9999">
                <a:solidFill>
                  <a:srgbClr val="1B3D65"/>
                </a:solidFill>
                <a:latin typeface="Arimo Bold"/>
                <a:ea typeface="Arimo Bold"/>
                <a:cs typeface="Arimo Bold"/>
                <a:sym typeface="Arimo Bold"/>
              </a:rPr>
              <a:t>Confusion Matrix CNN</a:t>
            </a:r>
          </a:p>
        </p:txBody>
      </p:sp>
      <p:sp>
        <p:nvSpPr>
          <p:cNvPr name="TextBox 10" id="10"/>
          <p:cNvSpPr txBox="true"/>
          <p:nvPr/>
        </p:nvSpPr>
        <p:spPr>
          <a:xfrm rot="0">
            <a:off x="11477432" y="1990725"/>
            <a:ext cx="6464367" cy="5981065"/>
          </a:xfrm>
          <a:prstGeom prst="rect">
            <a:avLst/>
          </a:prstGeom>
        </p:spPr>
        <p:txBody>
          <a:bodyPr anchor="t" rtlCol="false" tIns="0" lIns="0" bIns="0" rIns="0">
            <a:spAutoFit/>
          </a:bodyPr>
          <a:lstStyle/>
          <a:p>
            <a:pPr algn="just">
              <a:lnSpc>
                <a:spcPts val="4759"/>
              </a:lnSpc>
            </a:pPr>
            <a:r>
              <a:rPr lang="en-US" sz="3399">
                <a:solidFill>
                  <a:srgbClr val="1B3D65"/>
                </a:solidFill>
                <a:latin typeface="Open Sans"/>
                <a:ea typeface="Open Sans"/>
                <a:cs typeface="Open Sans"/>
                <a:sym typeface="Open Sans"/>
              </a:rPr>
              <a:t>Confusion m</a:t>
            </a:r>
            <a:r>
              <a:rPr lang="en-US" sz="3399">
                <a:solidFill>
                  <a:srgbClr val="1B3D65"/>
                </a:solidFill>
                <a:latin typeface="Open Sans"/>
                <a:ea typeface="Open Sans"/>
                <a:cs typeface="Open Sans"/>
                <a:sym typeface="Open Sans"/>
              </a:rPr>
              <a:t>atrix menunjukkan bahwa sebagian besar data berhasil diklasifikasikan dengan benar (nilai dominan pada diagonal). Hal ini menandakan model CNN memiliki performa klasifikasi yang baik, meskipun masih terdapat beberapa kesalahan prediksi pada kelas tertentu.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354159"/>
            <a:ext cx="18441471" cy="10373327"/>
          </a:xfrm>
          <a:custGeom>
            <a:avLst/>
            <a:gdLst/>
            <a:ahLst/>
            <a:cxnLst/>
            <a:rect r="r" b="b" t="t" l="l"/>
            <a:pathLst>
              <a:path h="10373327" w="18441471">
                <a:moveTo>
                  <a:pt x="0" y="0"/>
                </a:moveTo>
                <a:lnTo>
                  <a:pt x="18441471" y="0"/>
                </a:lnTo>
                <a:lnTo>
                  <a:pt x="18441471" y="10373327"/>
                </a:lnTo>
                <a:lnTo>
                  <a:pt x="0" y="10373327"/>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45114" r="0" b="-45114"/>
            </a:stretch>
          </a:blipFill>
        </p:spPr>
      </p:sp>
      <p:grpSp>
        <p:nvGrpSpPr>
          <p:cNvPr name="Group 3" id="3"/>
          <p:cNvGrpSpPr/>
          <p:nvPr/>
        </p:nvGrpSpPr>
        <p:grpSpPr>
          <a:xfrm rot="0">
            <a:off x="-646763" y="0"/>
            <a:ext cx="3990288" cy="10287000"/>
            <a:chOff x="0" y="0"/>
            <a:chExt cx="1050940" cy="2709333"/>
          </a:xfrm>
        </p:grpSpPr>
        <p:sp>
          <p:nvSpPr>
            <p:cNvPr name="Freeform 4" id="4"/>
            <p:cNvSpPr/>
            <p:nvPr/>
          </p:nvSpPr>
          <p:spPr>
            <a:xfrm flipH="false" flipV="false" rot="0">
              <a:off x="0" y="0"/>
              <a:ext cx="1050940" cy="2709333"/>
            </a:xfrm>
            <a:custGeom>
              <a:avLst/>
              <a:gdLst/>
              <a:ahLst/>
              <a:cxnLst/>
              <a:rect r="r" b="b" t="t" l="l"/>
              <a:pathLst>
                <a:path h="2709333" w="1050940">
                  <a:moveTo>
                    <a:pt x="0" y="0"/>
                  </a:moveTo>
                  <a:lnTo>
                    <a:pt x="1050940" y="0"/>
                  </a:lnTo>
                  <a:lnTo>
                    <a:pt x="1050940" y="2709333"/>
                  </a:lnTo>
                  <a:lnTo>
                    <a:pt x="0" y="2709333"/>
                  </a:lnTo>
                  <a:close/>
                </a:path>
              </a:pathLst>
            </a:custGeom>
            <a:solidFill>
              <a:srgbClr val="1B3D65"/>
            </a:solidFill>
          </p:spPr>
        </p:sp>
        <p:sp>
          <p:nvSpPr>
            <p:cNvPr name="TextBox 5" id="5"/>
            <p:cNvSpPr txBox="true"/>
            <p:nvPr/>
          </p:nvSpPr>
          <p:spPr>
            <a:xfrm>
              <a:off x="0" y="-47625"/>
              <a:ext cx="1050940" cy="275695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23576" y="8229600"/>
            <a:ext cx="4702629" cy="4114800"/>
          </a:xfrm>
          <a:custGeom>
            <a:avLst/>
            <a:gdLst/>
            <a:ahLst/>
            <a:cxnLst/>
            <a:rect r="r" b="b" t="t" l="l"/>
            <a:pathLst>
              <a:path h="4114800" w="4702629">
                <a:moveTo>
                  <a:pt x="0" y="0"/>
                </a:moveTo>
                <a:lnTo>
                  <a:pt x="4702628" y="0"/>
                </a:lnTo>
                <a:lnTo>
                  <a:pt x="4702628" y="4114800"/>
                </a:lnTo>
                <a:lnTo>
                  <a:pt x="0" y="4114800"/>
                </a:lnTo>
                <a:lnTo>
                  <a:pt x="0" y="0"/>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685241" y="2303171"/>
            <a:ext cx="9071264" cy="6955129"/>
          </a:xfrm>
          <a:custGeom>
            <a:avLst/>
            <a:gdLst/>
            <a:ahLst/>
            <a:cxnLst/>
            <a:rect r="r" b="b" t="t" l="l"/>
            <a:pathLst>
              <a:path h="6955129" w="9071264">
                <a:moveTo>
                  <a:pt x="0" y="0"/>
                </a:moveTo>
                <a:lnTo>
                  <a:pt x="9071264" y="0"/>
                </a:lnTo>
                <a:lnTo>
                  <a:pt x="9071264" y="6955129"/>
                </a:lnTo>
                <a:lnTo>
                  <a:pt x="0" y="6955129"/>
                </a:lnTo>
                <a:lnTo>
                  <a:pt x="0" y="0"/>
                </a:lnTo>
                <a:close/>
              </a:path>
            </a:pathLst>
          </a:custGeom>
          <a:blipFill>
            <a:blip r:embed="rId6"/>
            <a:stretch>
              <a:fillRect l="0" t="0" r="0" b="0"/>
            </a:stretch>
          </a:blipFill>
        </p:spPr>
      </p:sp>
      <p:sp>
        <p:nvSpPr>
          <p:cNvPr name="TextBox 8" id="8"/>
          <p:cNvSpPr txBox="true"/>
          <p:nvPr/>
        </p:nvSpPr>
        <p:spPr>
          <a:xfrm rot="0">
            <a:off x="4901049" y="268434"/>
            <a:ext cx="10639648" cy="1659255"/>
          </a:xfrm>
          <a:prstGeom prst="rect">
            <a:avLst/>
          </a:prstGeom>
        </p:spPr>
        <p:txBody>
          <a:bodyPr anchor="t" rtlCol="false" tIns="0" lIns="0" bIns="0" rIns="0">
            <a:spAutoFit/>
          </a:bodyPr>
          <a:lstStyle/>
          <a:p>
            <a:pPr algn="ctr">
              <a:lnSpc>
                <a:spcPts val="6720"/>
              </a:lnSpc>
            </a:pPr>
            <a:r>
              <a:rPr lang="en-US" sz="4800" b="true">
                <a:solidFill>
                  <a:srgbClr val="000000"/>
                </a:solidFill>
                <a:latin typeface="Open Sans Bold"/>
                <a:ea typeface="Open Sans Bold"/>
                <a:cs typeface="Open Sans Bold"/>
                <a:sym typeface="Open Sans Bold"/>
              </a:rPr>
              <a:t>Gr</a:t>
            </a:r>
            <a:r>
              <a:rPr lang="en-US" b="true" sz="4800">
                <a:solidFill>
                  <a:srgbClr val="000000"/>
                </a:solidFill>
                <a:latin typeface="Open Sans Bold"/>
                <a:ea typeface="Open Sans Bold"/>
                <a:cs typeface="Open Sans Bold"/>
                <a:sym typeface="Open Sans Bold"/>
              </a:rPr>
              <a:t>afik Perbandingan Accuracy Model (bar chart RF, MLP, CNN)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471" y="-221867"/>
            <a:ext cx="18441471" cy="10373327"/>
          </a:xfrm>
          <a:custGeom>
            <a:avLst/>
            <a:gdLst/>
            <a:ahLst/>
            <a:cxnLst/>
            <a:rect r="r" b="b" t="t" l="l"/>
            <a:pathLst>
              <a:path h="10373327" w="18441471">
                <a:moveTo>
                  <a:pt x="0" y="0"/>
                </a:moveTo>
                <a:lnTo>
                  <a:pt x="18441471" y="0"/>
                </a:lnTo>
                <a:lnTo>
                  <a:pt x="18441471" y="10373327"/>
                </a:lnTo>
                <a:lnTo>
                  <a:pt x="0" y="10373327"/>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45114" r="0" b="-45114"/>
            </a:stretch>
          </a:blipFill>
        </p:spPr>
      </p:sp>
      <p:sp>
        <p:nvSpPr>
          <p:cNvPr name="Freeform 3" id="3"/>
          <p:cNvSpPr/>
          <p:nvPr/>
        </p:nvSpPr>
        <p:spPr>
          <a:xfrm flipH="false" flipV="false" rot="0">
            <a:off x="3061355" y="7474062"/>
            <a:ext cx="15226645" cy="3423414"/>
          </a:xfrm>
          <a:custGeom>
            <a:avLst/>
            <a:gdLst/>
            <a:ahLst/>
            <a:cxnLst/>
            <a:rect r="r" b="b" t="t" l="l"/>
            <a:pathLst>
              <a:path h="3423414" w="15226645">
                <a:moveTo>
                  <a:pt x="0" y="0"/>
                </a:moveTo>
                <a:lnTo>
                  <a:pt x="15226645" y="0"/>
                </a:lnTo>
                <a:lnTo>
                  <a:pt x="15226645" y="3423414"/>
                </a:lnTo>
                <a:lnTo>
                  <a:pt x="0" y="3423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5400000">
            <a:off x="7163057" y="-1028700"/>
            <a:ext cx="5457808" cy="12344400"/>
            <a:chOff x="0" y="0"/>
            <a:chExt cx="7277077" cy="16459200"/>
          </a:xfrm>
        </p:grpSpPr>
        <p:grpSp>
          <p:nvGrpSpPr>
            <p:cNvPr name="Group 5" id="5"/>
            <p:cNvGrpSpPr/>
            <p:nvPr/>
          </p:nvGrpSpPr>
          <p:grpSpPr>
            <a:xfrm rot="0">
              <a:off x="474894" y="0"/>
              <a:ext cx="5320384" cy="13716000"/>
              <a:chOff x="0" y="0"/>
              <a:chExt cx="1050940" cy="2709333"/>
            </a:xfrm>
          </p:grpSpPr>
          <p:sp>
            <p:nvSpPr>
              <p:cNvPr name="Freeform 6" id="6"/>
              <p:cNvSpPr/>
              <p:nvPr/>
            </p:nvSpPr>
            <p:spPr>
              <a:xfrm flipH="false" flipV="false" rot="0">
                <a:off x="0" y="0"/>
                <a:ext cx="1050940" cy="2709333"/>
              </a:xfrm>
              <a:custGeom>
                <a:avLst/>
                <a:gdLst/>
                <a:ahLst/>
                <a:cxnLst/>
                <a:rect r="r" b="b" t="t" l="l"/>
                <a:pathLst>
                  <a:path h="2709333" w="1050940">
                    <a:moveTo>
                      <a:pt x="0" y="0"/>
                    </a:moveTo>
                    <a:lnTo>
                      <a:pt x="1050940" y="0"/>
                    </a:lnTo>
                    <a:lnTo>
                      <a:pt x="1050940" y="2709333"/>
                    </a:lnTo>
                    <a:lnTo>
                      <a:pt x="0" y="2709333"/>
                    </a:lnTo>
                    <a:close/>
                  </a:path>
                </a:pathLst>
              </a:custGeom>
              <a:solidFill>
                <a:srgbClr val="1B3D65"/>
              </a:solidFill>
            </p:spPr>
          </p:sp>
          <p:sp>
            <p:nvSpPr>
              <p:cNvPr name="TextBox 7" id="7"/>
              <p:cNvSpPr txBox="true"/>
              <p:nvPr/>
            </p:nvSpPr>
            <p:spPr>
              <a:xfrm>
                <a:off x="0" y="-47625"/>
                <a:ext cx="1050940" cy="2756958"/>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0" y="5486400"/>
              <a:ext cx="6270171" cy="5486400"/>
            </a:xfrm>
            <a:custGeom>
              <a:avLst/>
              <a:gdLst/>
              <a:ahLst/>
              <a:cxnLst/>
              <a:rect r="r" b="b" t="t" l="l"/>
              <a:pathLst>
                <a:path h="5486400" w="6270171">
                  <a:moveTo>
                    <a:pt x="0" y="0"/>
                  </a:moveTo>
                  <a:lnTo>
                    <a:pt x="6270171" y="0"/>
                  </a:lnTo>
                  <a:lnTo>
                    <a:pt x="6270171" y="5486400"/>
                  </a:lnTo>
                  <a:lnTo>
                    <a:pt x="0" y="5486400"/>
                  </a:lnTo>
                  <a:lnTo>
                    <a:pt x="0" y="0"/>
                  </a:lnTo>
                  <a:close/>
                </a:path>
              </a:pathLst>
            </a:custGeom>
            <a:blipFill>
              <a:blip r:embed="rId6">
                <a:alphaModFix amt="41000"/>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06906" y="0"/>
              <a:ext cx="6270171" cy="5486400"/>
            </a:xfrm>
            <a:custGeom>
              <a:avLst/>
              <a:gdLst/>
              <a:ahLst/>
              <a:cxnLst/>
              <a:rect r="r" b="b" t="t" l="l"/>
              <a:pathLst>
                <a:path h="5486400" w="6270171">
                  <a:moveTo>
                    <a:pt x="0" y="0"/>
                  </a:moveTo>
                  <a:lnTo>
                    <a:pt x="6270171" y="0"/>
                  </a:lnTo>
                  <a:lnTo>
                    <a:pt x="6270171" y="5486400"/>
                  </a:lnTo>
                  <a:lnTo>
                    <a:pt x="0" y="5486400"/>
                  </a:lnTo>
                  <a:lnTo>
                    <a:pt x="0" y="0"/>
                  </a:lnTo>
                  <a:close/>
                </a:path>
              </a:pathLst>
            </a:custGeom>
            <a:blipFill>
              <a:blip r:embed="rId6">
                <a:alphaModFix amt="41000"/>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505810" y="10972800"/>
              <a:ext cx="6270171" cy="5486400"/>
            </a:xfrm>
            <a:custGeom>
              <a:avLst/>
              <a:gdLst/>
              <a:ahLst/>
              <a:cxnLst/>
              <a:rect r="r" b="b" t="t" l="l"/>
              <a:pathLst>
                <a:path h="5486400" w="6270171">
                  <a:moveTo>
                    <a:pt x="0" y="0"/>
                  </a:moveTo>
                  <a:lnTo>
                    <a:pt x="6270171" y="0"/>
                  </a:lnTo>
                  <a:lnTo>
                    <a:pt x="6270171" y="5486400"/>
                  </a:lnTo>
                  <a:lnTo>
                    <a:pt x="0" y="5486400"/>
                  </a:lnTo>
                  <a:lnTo>
                    <a:pt x="0" y="0"/>
                  </a:lnTo>
                  <a:close/>
                </a:path>
              </a:pathLst>
            </a:custGeom>
            <a:blipFill>
              <a:blip r:embed="rId6">
                <a:alphaModFix amt="41000"/>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0">
            <a:off x="-12086960" y="7546593"/>
            <a:ext cx="15226645" cy="3423414"/>
          </a:xfrm>
          <a:custGeom>
            <a:avLst/>
            <a:gdLst/>
            <a:ahLst/>
            <a:cxnLst/>
            <a:rect r="r" b="b" t="t" l="l"/>
            <a:pathLst>
              <a:path h="3423414" w="15226645">
                <a:moveTo>
                  <a:pt x="0" y="0"/>
                </a:moveTo>
                <a:lnTo>
                  <a:pt x="15226645" y="0"/>
                </a:lnTo>
                <a:lnTo>
                  <a:pt x="15226645" y="3423414"/>
                </a:lnTo>
                <a:lnTo>
                  <a:pt x="0" y="3423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10800000">
            <a:off x="-9853041" y="-683007"/>
            <a:ext cx="15226645" cy="3423414"/>
          </a:xfrm>
          <a:custGeom>
            <a:avLst/>
            <a:gdLst/>
            <a:ahLst/>
            <a:cxnLst/>
            <a:rect r="r" b="b" t="t" l="l"/>
            <a:pathLst>
              <a:path h="3423414" w="15226645">
                <a:moveTo>
                  <a:pt x="0" y="0"/>
                </a:moveTo>
                <a:lnTo>
                  <a:pt x="15226646" y="0"/>
                </a:lnTo>
                <a:lnTo>
                  <a:pt x="15226646" y="3423414"/>
                </a:lnTo>
                <a:lnTo>
                  <a:pt x="0" y="3423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10800000">
            <a:off x="5325980" y="-683007"/>
            <a:ext cx="15226645" cy="3423414"/>
          </a:xfrm>
          <a:custGeom>
            <a:avLst/>
            <a:gdLst/>
            <a:ahLst/>
            <a:cxnLst/>
            <a:rect r="r" b="b" t="t" l="l"/>
            <a:pathLst>
              <a:path h="3423414" w="15226645">
                <a:moveTo>
                  <a:pt x="0" y="0"/>
                </a:moveTo>
                <a:lnTo>
                  <a:pt x="15226645" y="0"/>
                </a:lnTo>
                <a:lnTo>
                  <a:pt x="15226645" y="3423414"/>
                </a:lnTo>
                <a:lnTo>
                  <a:pt x="0" y="3423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497141">
            <a:off x="2310376" y="1763421"/>
            <a:ext cx="2291438" cy="1953972"/>
          </a:xfrm>
          <a:custGeom>
            <a:avLst/>
            <a:gdLst/>
            <a:ahLst/>
            <a:cxnLst/>
            <a:rect r="r" b="b" t="t" l="l"/>
            <a:pathLst>
              <a:path h="1953972" w="2291438">
                <a:moveTo>
                  <a:pt x="0" y="0"/>
                </a:moveTo>
                <a:lnTo>
                  <a:pt x="2291438" y="0"/>
                </a:lnTo>
                <a:lnTo>
                  <a:pt x="2291438" y="1953972"/>
                </a:lnTo>
                <a:lnTo>
                  <a:pt x="0" y="19539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true" flipV="true" rot="-1112582">
            <a:off x="13172013" y="7304328"/>
            <a:ext cx="2291438" cy="1953972"/>
          </a:xfrm>
          <a:custGeom>
            <a:avLst/>
            <a:gdLst/>
            <a:ahLst/>
            <a:cxnLst/>
            <a:rect r="r" b="b" t="t" l="l"/>
            <a:pathLst>
              <a:path h="1953972" w="2291438">
                <a:moveTo>
                  <a:pt x="2291438" y="1953972"/>
                </a:moveTo>
                <a:lnTo>
                  <a:pt x="0" y="1953972"/>
                </a:lnTo>
                <a:lnTo>
                  <a:pt x="0" y="0"/>
                </a:lnTo>
                <a:lnTo>
                  <a:pt x="2291438" y="0"/>
                </a:lnTo>
                <a:lnTo>
                  <a:pt x="2291438" y="1953972"/>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028700" y="7304328"/>
            <a:ext cx="651198" cy="1846180"/>
          </a:xfrm>
          <a:custGeom>
            <a:avLst/>
            <a:gdLst/>
            <a:ahLst/>
            <a:cxnLst/>
            <a:rect r="r" b="b" t="t" l="l"/>
            <a:pathLst>
              <a:path h="1846180" w="651198">
                <a:moveTo>
                  <a:pt x="0" y="0"/>
                </a:moveTo>
                <a:lnTo>
                  <a:pt x="651198" y="0"/>
                </a:lnTo>
                <a:lnTo>
                  <a:pt x="651198" y="1846180"/>
                </a:lnTo>
                <a:lnTo>
                  <a:pt x="0" y="18461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4362216" y="4416676"/>
            <a:ext cx="9410098" cy="2076311"/>
          </a:xfrm>
          <a:prstGeom prst="rect">
            <a:avLst/>
          </a:prstGeom>
        </p:spPr>
        <p:txBody>
          <a:bodyPr anchor="t" rtlCol="false" tIns="0" lIns="0" bIns="0" rIns="0">
            <a:spAutoFit/>
          </a:bodyPr>
          <a:lstStyle/>
          <a:p>
            <a:pPr algn="ctr">
              <a:lnSpc>
                <a:spcPts val="16517"/>
              </a:lnSpc>
              <a:spcBef>
                <a:spcPct val="0"/>
              </a:spcBef>
            </a:pPr>
            <a:r>
              <a:rPr lang="en-US" b="true" sz="11798">
                <a:solidFill>
                  <a:srgbClr val="FFFFFF"/>
                </a:solidFill>
                <a:latin typeface="Arimo Bold"/>
                <a:ea typeface="Arimo Bold"/>
                <a:cs typeface="Arimo Bold"/>
                <a:sym typeface="Arimo Bold"/>
              </a:rPr>
              <a:t>Terima Kasih</a:t>
            </a:r>
          </a:p>
        </p:txBody>
      </p:sp>
      <p:sp>
        <p:nvSpPr>
          <p:cNvPr name="Freeform 18" id="18"/>
          <p:cNvSpPr/>
          <p:nvPr/>
        </p:nvSpPr>
        <p:spPr>
          <a:xfrm flipH="true" flipV="true" rot="0">
            <a:off x="16608102" y="1028700"/>
            <a:ext cx="651198" cy="1846180"/>
          </a:xfrm>
          <a:custGeom>
            <a:avLst/>
            <a:gdLst/>
            <a:ahLst/>
            <a:cxnLst/>
            <a:rect r="r" b="b" t="t" l="l"/>
            <a:pathLst>
              <a:path h="1846180" w="651198">
                <a:moveTo>
                  <a:pt x="651198" y="1846180"/>
                </a:moveTo>
                <a:lnTo>
                  <a:pt x="0" y="1846180"/>
                </a:lnTo>
                <a:lnTo>
                  <a:pt x="0" y="0"/>
                </a:lnTo>
                <a:lnTo>
                  <a:pt x="651198" y="0"/>
                </a:lnTo>
                <a:lnTo>
                  <a:pt x="651198" y="184618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DAG-8QqwH-g</dc:identifier>
  <dcterms:modified xsi:type="dcterms:W3CDTF">2011-08-01T06:04:30Z</dcterms:modified>
  <cp:revision>1</cp:revision>
  <dc:title>UAS Machine Learning Dataset: Fashion-MNIST </dc:title>
</cp:coreProperties>
</file>